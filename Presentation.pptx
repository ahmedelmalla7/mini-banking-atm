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6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5" y="1016496"/>
            <a:ext cx="7715250" cy="48251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162" y="3401466"/>
            <a:ext cx="3495675" cy="20496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0" y="530721"/>
            <a:ext cx="8686800" cy="57967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55545" y="1407021"/>
            <a:ext cx="728091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250" i="0" u="none">
                <a:solidFill>
                  <a:srgbClr val="38BDF8"/>
                </a:solidFill>
                <a:latin typeface="DM Sans"/>
              </a:rPr>
              <a:t>ATM Machine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900" y="2464296"/>
            <a:ext cx="69342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CBD5E1"/>
                </a:solidFill>
                <a:latin typeface="DM Sans"/>
              </a:rPr>
              <a:t>A Comprehensive Console-Based C Programming Project</a:t>
            </a:r>
          </a:p>
        </p:txBody>
      </p:sp>
      <p:sp>
        <p:nvSpPr>
          <p:cNvPr id="10" name="Team 4 Heading"/>
          <p:cNvSpPr txBox="1"/>
          <p:nvPr/>
        </p:nvSpPr>
        <p:spPr>
          <a:xfrm>
            <a:off x="3337560" y="2907792"/>
            <a:ext cx="461772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DM Sans"/>
              </a:rPr>
              <a:t>Team 4</a:t>
            </a:r>
          </a:p>
        </p:txBody>
      </p:sp>
      <p:sp>
        <p:nvSpPr>
          <p:cNvPr id="11" name="Team 4 Member Names"/>
          <p:cNvSpPr txBox="1"/>
          <p:nvPr/>
        </p:nvSpPr>
        <p:spPr>
          <a:xfrm>
            <a:off x="2999232" y="3337560"/>
            <a:ext cx="5285232" cy="2057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50"/>
              </a:spcAft>
            </a:pPr>
            <a:r>
              <a:rPr sz="1200">
                <a:solidFill>
                  <a:srgbClr val="CBD5E1"/>
                </a:solidFill>
                <a:latin typeface="Noto Sans Arabic"/>
              </a:rPr>
              <a:t>أحمد عبدالغني محمد</a:t>
            </a:r>
          </a:p>
          <a:p>
            <a:pPr algn="r" rtl="1">
              <a:lnSpc>
                <a:spcPct val="105000"/>
              </a:lnSpc>
              <a:spcAft>
                <a:spcPts val="250"/>
              </a:spcAft>
            </a:pPr>
            <a:r>
              <a:rPr sz="1200">
                <a:solidFill>
                  <a:srgbClr val="CBD5E1"/>
                </a:solidFill>
                <a:latin typeface="Noto Sans Arabic"/>
              </a:rPr>
              <a:t>أحمد عبدالفتاح عبدالصادق ابراهيم</a:t>
            </a:r>
          </a:p>
          <a:p>
            <a:pPr algn="r" rtl="1">
              <a:lnSpc>
                <a:spcPct val="105000"/>
              </a:lnSpc>
              <a:spcAft>
                <a:spcPts val="250"/>
              </a:spcAft>
            </a:pPr>
            <a:r>
              <a:rPr sz="1200">
                <a:solidFill>
                  <a:srgbClr val="CBD5E1"/>
                </a:solidFill>
                <a:latin typeface="Noto Sans Arabic"/>
              </a:rPr>
              <a:t>أكساني أيمن نبيل</a:t>
            </a:r>
          </a:p>
          <a:p>
            <a:pPr algn="r" rtl="1">
              <a:lnSpc>
                <a:spcPct val="105000"/>
              </a:lnSpc>
              <a:spcAft>
                <a:spcPts val="250"/>
              </a:spcAft>
            </a:pPr>
            <a:r>
              <a:rPr sz="1200">
                <a:solidFill>
                  <a:srgbClr val="CBD5E1"/>
                </a:solidFill>
                <a:latin typeface="Noto Sans Arabic"/>
              </a:rPr>
              <a:t>فارس ايهاب قنديل</a:t>
            </a:r>
          </a:p>
          <a:p>
            <a:pPr algn="r" rtl="1">
              <a:lnSpc>
                <a:spcPct val="105000"/>
              </a:lnSpc>
              <a:spcAft>
                <a:spcPts val="250"/>
              </a:spcAft>
            </a:pPr>
            <a:r>
              <a:rPr sz="1200">
                <a:solidFill>
                  <a:srgbClr val="CBD5E1"/>
                </a:solidFill>
                <a:latin typeface="Noto Sans Arabic"/>
              </a:rPr>
              <a:t>عبدالله يحيى السيد يوسف</a:t>
            </a:r>
          </a:p>
          <a:p>
            <a:pPr algn="r" rtl="1">
              <a:lnSpc>
                <a:spcPct val="105000"/>
              </a:lnSpc>
              <a:spcAft>
                <a:spcPts val="250"/>
              </a:spcAft>
            </a:pPr>
            <a:r>
              <a:rPr sz="1200">
                <a:solidFill>
                  <a:srgbClr val="CBD5E1"/>
                </a:solidFill>
                <a:latin typeface="Noto Sans Arabic"/>
              </a:rPr>
              <a:t>مارتن تيموثاوس القس اسطفانوس</a:t>
            </a:r>
          </a:p>
        </p:txBody>
      </p:sp>
      <p:sp>
        <p:nvSpPr>
          <p:cNvPr id="12" name="Bottom Notes Removal Mask 1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257425"/>
            <a:ext cx="5286375" cy="3333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2475" y="2256472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257425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What is it?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A secure, console-based ATM system written entirely in 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475" y="2947927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948880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Why develop it?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To transition from basic scripts to a realistic, interactive application handling user states and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3639383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640335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The Problem: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Simulates secure authentication, transaction processing, and data tracking without a graphical interface.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4330838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331791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User Interaction: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Users interact via a formatted terminal menu using numerical inputs, with clear, color-coded feedback.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276475"/>
            <a:ext cx="5248275" cy="3295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Project Introduction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ttom Notes Removal Mask 2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56544"/>
            <a:ext cx="3429000" cy="31355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356544"/>
            <a:ext cx="3429000" cy="31355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356544"/>
            <a:ext cx="3429000" cy="31355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0848" y="3442394"/>
            <a:ext cx="2430303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F8FAFC"/>
                </a:solidFill>
                <a:latin typeface="DM Sans Medium"/>
              </a:rPr>
              <a:t>Core C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56744"/>
            <a:ext cx="28384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Practice fundamental programming using structs, pointers, arrays, conditional logic, and modular functions.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0866" y="3442394"/>
            <a:ext cx="213026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F8FAFC"/>
                </a:solidFill>
                <a:latin typeface="DM Sans Medium"/>
              </a:rP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775" y="3956744"/>
            <a:ext cx="28384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Implement realistic security features including PIN masking, account verification, and attempt limits.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5885" y="3442394"/>
            <a:ext cx="184023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F8FAFC"/>
                </a:solidFill>
                <a:latin typeface="DM Sans Medium"/>
              </a:rPr>
              <a:t>Robust UI/UX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6775" y="3956744"/>
            <a:ext cx="28384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Enhance the console experience with colored text output and strict handling of invalid user inputs to prevent crashes.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0" y="2708969"/>
            <a:ext cx="5715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2708969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8825" y="2708969"/>
            <a:ext cx="51435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Project Objectives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ttom Notes Removal Mask 3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86525"/>
            <a:ext cx="12192000" cy="371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Main System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62050"/>
            <a:ext cx="5286375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562100"/>
            <a:ext cx="5550693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F8FAFC"/>
                </a:solidFill>
                <a:latin typeface="DM Sans Medium"/>
              </a:rPr>
              <a:t>Built for Realism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076450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1. Secure Login: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Existing users log in with Account ID and a masked PIN.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767905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2. Attempt Limits: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Users get exactly 3 chances to enter the correct PIN before lockout.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459360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3. Dynamic Sign-Up: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The system allows new users to create accounts on the fly.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150816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4. Core ATM Transactions: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Includes Checking Balance, Depositing, Withdrawing, and viewing a Session Summary.</a:t>
            </a:r>
          </a:p>
        </p:txBody>
      </p:sp>
      <p:sp>
        <p:nvSpPr>
          <p:cNvPr id="12" name="Bottom Notes Removal Mask 4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57675"/>
            <a:ext cx="2541240" cy="135999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419" y="2230933"/>
            <a:ext cx="2541240" cy="13599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339" y="4257675"/>
            <a:ext cx="2541240" cy="13599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259" y="2230933"/>
            <a:ext cx="2541240" cy="13599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" y="390525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988" y="4410075"/>
            <a:ext cx="234826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38BDF8"/>
                </a:solidFill>
                <a:latin typeface="DM Sans Medium"/>
              </a:rPr>
              <a:t>1. Select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733925"/>
            <a:ext cx="223644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User enters Full Name. System checks for duplicates and asks for Savings or Current account.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3908" y="2383333"/>
            <a:ext cx="234826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38BDF8"/>
                </a:solidFill>
                <a:latin typeface="DM Sans Medium"/>
              </a:rPr>
              <a:t>2. Initial Funds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9819" y="2707183"/>
            <a:ext cx="223644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User deposits initial balance. The system validates that the amount is greater than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9828" y="4410075"/>
            <a:ext cx="234826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38BDF8"/>
                </a:solidFill>
                <a:latin typeface="DM Sans Medium"/>
              </a:rPr>
              <a:t>3. Create PIN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5739" y="4733925"/>
            <a:ext cx="223644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User securely enters a 4-digit PIN using character masking (stars) for privacy.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5748" y="2383333"/>
            <a:ext cx="234826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38BDF8"/>
                </a:solidFill>
                <a:latin typeface="DM Sans Medium"/>
              </a:rPr>
              <a:t>4. Account 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1659" y="2707183"/>
            <a:ext cx="223644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System automatically generates a unique Account ID and redirects user to login.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27820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63740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99659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35579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Sign-Up System for New 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ttom Notes Removal Mask 5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257425"/>
            <a:ext cx="5286375" cy="3333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2475" y="2256472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257425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PIN Masking: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The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readPinAsStars()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function intercepts keypresses, hiding the PIN from bystanders.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475" y="2947927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948880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Verification: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The program matches the inputted 4-digit ID and PIN against the array of Account structs.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3639383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640335"/>
            <a:ext cx="5048250" cy="82287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Three Attempts Rule: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A loop tracks failed attempts. If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numberOfAttempts &gt;= 3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, the function returns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NULL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, stopping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4605129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606081"/>
            <a:ext cx="5048250" cy="82287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Security by Design: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Instead of crashing or looping infinitely on bad input, the system gracefully handles the failure and returns to the main menu.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276475"/>
            <a:ext cx="5248275" cy="3295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Login &amp; Security 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ttom Notes Removal Mask 6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39416"/>
            <a:ext cx="5286375" cy="336976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239416"/>
            <a:ext cx="5286375" cy="33697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629941"/>
            <a:ext cx="47305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38BDF8"/>
                </a:solidFill>
                <a:latin typeface="DM Sans Medium"/>
              </a:rPr>
              <a:t>Input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144291"/>
            <a:ext cx="45053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Invalid Menu Choice: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Entering numbers outside the menu range triggers a color-coded error message and repeats the prompt.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10037"/>
            <a:ext cx="45053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Buffer Clearing: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A custom loop clears the input buffer to prevent infinite loops if a user enters characters instead of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629941"/>
            <a:ext cx="47305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38BDF8"/>
                </a:solidFill>
                <a:latin typeface="DM Sans Medium"/>
              </a:rPr>
              <a:t>Transaction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3144291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Insufficient Funds: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The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withdraw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function checks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amount &lt;= account-&gt;balance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before deducting.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3835747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Negative Amounts: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Users cannot deposit or withdraw amounts less than or equal to zero.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4527202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Account Capacity: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Sign-up validates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userCount &lt; 10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to prevent array overflow.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Robust Error Handling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ttom Notes Removal Mask 7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2" y="2257425"/>
            <a:ext cx="3333750" cy="3333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6525"/>
            <a:ext cx="12192000" cy="371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4125" y="2141339"/>
            <a:ext cx="5550693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F8FAFC"/>
                </a:solidFill>
                <a:latin typeface="DM Sans Medium"/>
              </a:rPr>
              <a:t>Interactive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655689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Once authenticated, the user is presented with a clear menu powered by a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do-while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loop and a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switch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statement: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912" y="2295525"/>
            <a:ext cx="3257550" cy="3257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15100" y="3346192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3347144"/>
            <a:ext cx="5048250" cy="27429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[1] Check Balance: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Displays formatted account info.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763357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3764309"/>
            <a:ext cx="5048250" cy="27429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[2] Deposit: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Adds funds and increments deposit counter.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4180522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4181475"/>
            <a:ext cx="5048250" cy="27429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[3] Withdraw: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Deducts funds securely.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4597687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0" y="4598640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[4] Session Summary: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Shows total operations during this login.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5289143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5290095"/>
            <a:ext cx="5048250" cy="27429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[5] Logout: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Ends session safely.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The ATM Transaction Menu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ttom Notes Removal Mask 8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195661"/>
            <a:ext cx="5286375" cy="3333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95661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To make the console interface intuitive, the project utilizes ANSI escape codes for coloring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475" y="2886164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887116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8BDF8"/>
                </a:solidFill>
                <a:latin typeface="DM Sans"/>
              </a:rPr>
              <a:t>Cyan &amp; Blue: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Used for Main Menus, borders, and general prompts to indicate standard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3577619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578572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22C55E"/>
                </a:solidFill>
                <a:latin typeface="DM Sans"/>
              </a:rPr>
              <a:t>Green: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Used for Success messages (e.g., successful login, deposit completed).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4269075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270027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EF4444"/>
                </a:solidFill>
                <a:latin typeface="DM Sans"/>
              </a:rPr>
              <a:t>Red: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Used for Errors and Warnings (e.g., insufficient funds, invalid PIN, wrong menu choice).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4960530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961483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EAB308"/>
                </a:solidFill>
                <a:latin typeface="DM Sans"/>
              </a:rPr>
              <a:t>Yellow: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Used to highlight critical warnings like "Maximum attempts reached!"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214711"/>
            <a:ext cx="5248275" cy="3295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Enhancing UX: Colored Console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ttom Notes Removal Mask 9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70807"/>
            <a:ext cx="3429000" cy="350698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170807"/>
            <a:ext cx="3429000" cy="35069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2170807"/>
            <a:ext cx="3429000" cy="35069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0826" y="3256657"/>
            <a:ext cx="2770346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F8FAFC"/>
                </a:solidFill>
                <a:latin typeface="DM Sans Medium"/>
              </a:rPr>
              <a:t>Structures &amp; Arrays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71007"/>
            <a:ext cx="28384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An array of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Account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structs stores all user data (PIN, balance, name, ID) comprehensively in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5813" y="3256657"/>
            <a:ext cx="2980372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F8FAFC"/>
                </a:solidFill>
                <a:latin typeface="DM Sans Medium"/>
              </a:rPr>
              <a:t>Pointers &amp;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775" y="4142482"/>
            <a:ext cx="28384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Functions take pointers (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Account *account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) to directly modify balances and counters without returning whole structs.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5813" y="3256657"/>
            <a:ext cx="2980372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F8FAFC"/>
                </a:solidFill>
                <a:latin typeface="DM Sans Medium"/>
              </a:rPr>
              <a:t>Control Flow &amp; Strings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6775" y="4142482"/>
            <a:ext cx="28384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Heavy use of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switch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cases for menus,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do-while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for looping sessions, and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strcmp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/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snprintf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for string manipulation.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8825" y="2523232"/>
            <a:ext cx="5143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2523232"/>
            <a:ext cx="40005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5975" y="2523232"/>
            <a:ext cx="40005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C Programming Concepts Applied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ttom Notes Removal Mask 10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257425"/>
            <a:ext cx="5286375" cy="3333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57425"/>
            <a:ext cx="52863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The code is modularized into distinct, purpose-driven functions: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475" y="2673637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674590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main()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: Initializes mock accounts, handles the main application loop (Sign In, Sign Up, Exit).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3365093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366045"/>
            <a:ext cx="5048250" cy="27429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signUp()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: Handles user data generation and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3782258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783210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login()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&amp;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readPinAsStars()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: Handles authentication and attempt tracking.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4473713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474666"/>
            <a:ext cx="5048250" cy="27429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atmMenu()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: The core transaction loop.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4890879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891831"/>
            <a:ext cx="5048250" cy="54858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deposit()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,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withdraw()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,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showBalance()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: Specific modular tasks triggered via function pointers.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276475"/>
            <a:ext cx="5248275" cy="3295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Program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ttom Notes Removal Mask 11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30759"/>
            <a:ext cx="5286375" cy="378708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30759"/>
            <a:ext cx="5286375" cy="37870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421284"/>
            <a:ext cx="47305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38BDF8"/>
                </a:solidFill>
                <a:latin typeface="DM Sans Medium"/>
              </a:rPr>
              <a:t>1. PIN Attempt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735859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Loop allows exactly 3 attempts. Returns pointer on success, or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NULL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if loop exhausts.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421284"/>
            <a:ext cx="47305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38BDF8"/>
                </a:solidFill>
                <a:latin typeface="DM Sans Medium"/>
              </a:rPr>
              <a:t>2. Safe Withdrawal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4535834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Checks for sufficient funds and positive amounts before modifying data. Applies colors based on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Implementation Highlights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ttom Notes Removal Mask 12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3500" y="1695450"/>
            <a:ext cx="10001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DM Sans"/>
              </a:rPr>
              <a:t>Step 1: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Start the program. The blue Main Menu appears.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2190750"/>
            <a:ext cx="10001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DM Sans"/>
              </a:rPr>
              <a:t>Step 2: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User selects 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[2] Sign Up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to create a new account.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686050"/>
            <a:ext cx="10001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DM Sans"/>
              </a:rPr>
              <a:t>Step 3: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User enters name "Alex", account type, and initial deposit of $500.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181350"/>
            <a:ext cx="10001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DM Sans"/>
              </a:rPr>
              <a:t>Step 4: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User creates a PIN "9999", which is masked as 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****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on 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676650"/>
            <a:ext cx="10001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DM Sans"/>
              </a:rPr>
              <a:t>Step 5: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System outputs success and assigns Account ID: "1004".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171950"/>
            <a:ext cx="10001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DM Sans"/>
              </a:rPr>
              <a:t>Step 6: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User selects 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[1] Sign In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, enters "1004" and "9999".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4667250"/>
            <a:ext cx="10001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DM Sans"/>
              </a:rPr>
              <a:t>Step 7: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User enters the ATM menu and selects 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[3] Withdraw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, withdrawing $100.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5162550"/>
            <a:ext cx="10001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DM Sans"/>
              </a:rPr>
              <a:t>Step 8: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User selects 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[4] Session Summary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. Sees 1 withdrawal, $400 balance.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5657850"/>
            <a:ext cx="10001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8FAFC"/>
                </a:solidFill>
                <a:latin typeface="DM Sans"/>
              </a:rPr>
              <a:t>Step 9: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User selects 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[5] Logout</a:t>
            </a:r>
            <a:r>
              <a:rPr b="0" sz="1500" i="0" u="none">
                <a:solidFill>
                  <a:srgbClr val="CBD5E1"/>
                </a:solidFill>
                <a:latin typeface="DM Sans"/>
              </a:rPr>
              <a:t> and returns to Main Menu safely.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14500"/>
            <a:ext cx="1714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209800"/>
            <a:ext cx="2857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705100"/>
            <a:ext cx="25717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200400"/>
            <a:ext cx="2000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695700"/>
            <a:ext cx="25717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4191000"/>
            <a:ext cx="2286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4686300"/>
            <a:ext cx="28575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5181600"/>
            <a:ext cx="17145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250" y="5676900"/>
            <a:ext cx="228600" cy="2476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Example User Journey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ttom Notes Removal Mask 13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1853654"/>
            <a:ext cx="11049000" cy="4141291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853654"/>
          <a:ext cx="11048999" cy="4141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41860"/>
                <a:gridCol w="3950196"/>
                <a:gridCol w="4356943"/>
              </a:tblGrid>
              <a:tr h="591613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8BDF8"/>
                          </a:solidFill>
                          <a:latin typeface="DM Sans"/>
                        </a:rPr>
                        <a:t>Test Case Scenario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8BDF8"/>
                          </a:solidFill>
                          <a:latin typeface="DM Sans"/>
                        </a:rPr>
                        <a:t>User Input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8BDF8"/>
                          </a:solidFill>
                          <a:latin typeface="DM Sans"/>
                        </a:rPr>
                        <a:t>Expected Result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</a:tr>
              <a:tr h="591613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Valid Login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Correct ID + Correct PIN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Access granted to ATM Menu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1613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Wrong PIN Attempt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Correct ID + Incorrect PIN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Red Error Message, prompt repeats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1613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Max PIN Failures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Wrong PIN 3 consecutive times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Session locked, return to Main Menu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1613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New Account Creation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Valid Name, Deposit &gt; 0, 4-digit PIN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Account created with auto-assigned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1613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Overdraft Protection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Withdraw $500 from $100 balance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Red Error: Insufficient funds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1613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Invalid Menu Choice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Entering '9' in a 1-5 menu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DM Sans"/>
                        </a:rPr>
                        <a:t>Red Error: Invalid Option, loop repeats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2458491"/>
            <a:ext cx="27418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13360" y="2458491"/>
            <a:ext cx="3950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63556" y="2458491"/>
            <a:ext cx="43569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047107"/>
            <a:ext cx="27418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3360" y="3047107"/>
            <a:ext cx="3950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3556" y="3047107"/>
            <a:ext cx="43569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635722"/>
            <a:ext cx="27418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3360" y="3635722"/>
            <a:ext cx="3950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3556" y="3635722"/>
            <a:ext cx="43569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224337"/>
            <a:ext cx="27418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3360" y="4224337"/>
            <a:ext cx="3950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3556" y="4224337"/>
            <a:ext cx="43569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812952"/>
            <a:ext cx="27418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3360" y="4812952"/>
            <a:ext cx="3950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3556" y="4812952"/>
            <a:ext cx="43569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401567"/>
            <a:ext cx="27418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3360" y="5401567"/>
            <a:ext cx="3950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3556" y="5401567"/>
            <a:ext cx="43569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System Testing &amp; 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ttom Notes Removal Mask 14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07964"/>
            <a:ext cx="3429000" cy="423267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807964"/>
            <a:ext cx="3429000" cy="42326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807964"/>
            <a:ext cx="3429000" cy="42326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836" y="2893814"/>
            <a:ext cx="262032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F8FAFC"/>
                </a:solidFill>
                <a:latin typeface="DM Sans Medium"/>
              </a:rPr>
              <a:t>Input Buffer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408164"/>
            <a:ext cx="2838450" cy="2194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Challenge: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Mixing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scanf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and strings left newlines in the buffer, skipping inputs.</a:t>
            </a:r>
            <a:r>
              <a:t>
</a:t>
            </a:r>
            <a:r>
              <a:t>
</a:t>
            </a:r>
            <a:r>
              <a:rPr b="1" sz="1350" i="0" u="none">
                <a:solidFill>
                  <a:srgbClr val="CBD5E1"/>
                </a:solidFill>
                <a:latin typeface="DM Sans"/>
              </a:rPr>
              <a:t>Solution: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Implemented a buffer clearing loop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while((c = getchar()) != '\n' &amp;&amp; c != EOF);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0893" y="2893814"/>
            <a:ext cx="1710213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F8FAFC"/>
                </a:solidFill>
                <a:latin typeface="DM Sans Medium"/>
              </a:rPr>
              <a:t>PIN Masking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775" y="3408164"/>
            <a:ext cx="2838450" cy="1920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Challenge: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Standard C inputs show text on screen.</a:t>
            </a:r>
            <a:r>
              <a:t>
</a:t>
            </a:r>
            <a:r>
              <a:t>
</a:t>
            </a:r>
            <a:r>
              <a:rPr b="1" sz="1350" i="0" u="none">
                <a:solidFill>
                  <a:srgbClr val="CBD5E1"/>
                </a:solidFill>
                <a:latin typeface="DM Sans"/>
              </a:rPr>
              <a:t>Solution: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Used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_getch()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in a loop to capture raw keystrokes and immediately print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*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to the console instead.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890" y="2893814"/>
            <a:ext cx="176022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250" i="0" u="none">
                <a:solidFill>
                  <a:srgbClr val="F8FAFC"/>
                </a:solidFill>
                <a:latin typeface="DM Sans Medium"/>
              </a:rPr>
              <a:t>Dynamic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6775" y="3408164"/>
            <a:ext cx="283845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Challenge: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New users needed unique IDs without hardcoding.</a:t>
            </a:r>
            <a:r>
              <a:t>
</a:t>
            </a:r>
            <a:r>
              <a:t>
</a:t>
            </a:r>
            <a:r>
              <a:rPr b="1" sz="1350" i="0" u="none">
                <a:solidFill>
                  <a:srgbClr val="CBD5E1"/>
                </a:solidFill>
                <a:latin typeface="DM Sans"/>
              </a:rPr>
              <a:t>Solution: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Used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atoi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on the last user's ID, incremented it, and stored it back using 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snprintf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8825" y="2160389"/>
            <a:ext cx="5143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0" y="2160389"/>
            <a:ext cx="5715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5975" y="2160389"/>
            <a:ext cx="40005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Development Challenges &amp; Solutions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ttom Notes Removal Mask 15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39416"/>
            <a:ext cx="5286375" cy="336976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239416"/>
            <a:ext cx="5286375" cy="33697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629941"/>
            <a:ext cx="47305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38BDF8"/>
                </a:solidFill>
                <a:latin typeface="DM Sans Medium"/>
              </a:rPr>
              <a:t>Data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144291"/>
            <a:ext cx="450532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Currently, account data is lost when the program closes. The next logical step is integrating </a:t>
            </a:r>
            <a:r>
              <a:rPr b="1" sz="1350" i="0" u="none">
                <a:solidFill>
                  <a:srgbClr val="CBD5E1"/>
                </a:solidFill>
                <a:latin typeface="DM Sans"/>
              </a:rPr>
              <a:t>File Handling (File I/O)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to save and load accounts from a `.txt` or `.dat` file, making the ATM state persistent.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629941"/>
            <a:ext cx="47305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38BDF8"/>
                </a:solidFill>
                <a:latin typeface="DM Sans Medium"/>
              </a:rPr>
              <a:t>Advanced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144291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Money Transfers: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Allow users to transfer funds between two active account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3835747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Transaction History: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Store a detailed log of the last 10 operations instead of just a session summary 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4527202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DM Sans"/>
              </a:rPr>
              <a:t>Encryption:</a:t>
            </a:r>
            <a:r>
              <a:rPr b="0" sz="1350" i="0" u="none">
                <a:solidFill>
                  <a:srgbClr val="CBD5E1"/>
                </a:solidFill>
                <a:latin typeface="DM Sans"/>
              </a:rPr>
              <a:t> Hash the PINs instead of storing them as plain text strings in memory.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Future Improvements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ttom Notes Removal Mask 16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15075"/>
            <a:ext cx="12192000" cy="542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Project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62050"/>
            <a:ext cx="5286375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562100"/>
            <a:ext cx="5550693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F8FAFC"/>
                </a:solidFill>
                <a:latin typeface="DM Sans Medium"/>
              </a:rPr>
              <a:t>Bridging Theory and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076450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This project successfully demonstrates the translation of abstract C programming fundamentals into a tangible, realistic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767905"/>
            <a:ext cx="52863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By implementing user authentication, error handling, input validation, and a dynamic account creation process, the ATM simulation proves that even console applications can deliver a structured, secure, and user-friendly experience.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007941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DM Sans"/>
              </a:rPr>
              <a:t>It was a highly effective exercise in logic organization and memory management.</a:t>
            </a:r>
          </a:p>
        </p:txBody>
      </p:sp>
      <p:sp>
        <p:nvSpPr>
          <p:cNvPr id="11" name="Bottom Notes Removal Mask 17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587" y="2046982"/>
            <a:ext cx="5076825" cy="27640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812" y="1561207"/>
            <a:ext cx="6048375" cy="37355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486525"/>
            <a:ext cx="12192000" cy="371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718" y="2437507"/>
            <a:ext cx="4510563" cy="1114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750" i="0" u="none">
                <a:solidFill>
                  <a:srgbClr val="38BDF8"/>
                </a:solidFill>
                <a:latin typeface="DM San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8112" y="3742432"/>
            <a:ext cx="42957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DM Sans"/>
              </a:rPr>
              <a:t>Any Questions?</a:t>
            </a:r>
          </a:p>
        </p:txBody>
      </p:sp>
      <p:sp>
        <p:nvSpPr>
          <p:cNvPr id="9" name="Bottom Notes Removal Mask 18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178569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963340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748111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730972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713833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9538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95381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73858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73858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72144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72144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7043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7043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56871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6871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27993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1321444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DM Sans"/>
              </a:rPr>
              <a:t>https://cdn.dribbble.com/userupload/3079704/file/original-6a9748fae301579a494689223c010637.png?format=webp&amp;resize=400x300&amp;vertical=center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156716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dribbble.com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2764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2106215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DM Sans"/>
              </a:rPr>
              <a:t>https://assets.skyfilabs.com/images/blog/20-best-c-programming-projects-for-beginners.webp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235193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www.skyfilabs.com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96654"/>
            <a:ext cx="857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66875" y="2890986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DM Sans"/>
              </a:rPr>
              <a:t>https://static.vecteezy.com/system/resources/previews/026/384/935/non_2x/futuristic-glowing-padlock-with-plexus-lines-and-glitter-particles-a-padlock-in-the-neon-light-style-cyber-security-data-and-privacy-protection-digital-technology-background-vector.jpg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333479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www.vecteezy.com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79515"/>
            <a:ext cx="857250" cy="476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66875" y="3873847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DM Sans"/>
              </a:rPr>
              <a:t>https://elements-resized.envatousercontent.com/elements-video-cover-images/files/3e65d860-219e-4c4c-ac22-870d9559185b/inline_image_preview.jpg?w=500&amp;cf_fit=cover&amp;q=85&amp;format=auto&amp;s=93b945e86316da40531d0995330aad249d1c2f48048241062e193367e4a98db6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31765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elements.envato.com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62376"/>
            <a:ext cx="857250" cy="4762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66875" y="4856708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DM Sans"/>
              </a:rPr>
              <a:t>https://images.unsplash.com/photo-1690585703267-de31ea667ef0?fm=jpg&amp;q=60&amp;w=3000&amp;auto=format&amp;fit=crop&amp;ixlib=rb-4.1.0&amp;ixid=M3wxMjA3fDB8MHxzZWFyY2h8Mnx8YXBpfGVufDB8fDB8fHwy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6875" y="530051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unsplash.com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945237"/>
            <a:ext cx="857250" cy="4762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666875" y="5839569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DM Sans"/>
              </a:rPr>
              <a:t>https://static.vecteezy.com/system/resources/previews/060/615/203/non_2x/blue-futuristic-technology-abstract-background-with-glowing-hexagonal-nodes-data-visualizations-modern-digital-network-concept-vector.jpg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187969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Image Sources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" y="778519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ottom Notes Removal Mask 19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3045172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40185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40185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293715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6875" y="3188047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DM Sans"/>
              </a:rPr>
              <a:t>https://static.vecteezy.com/system/resources/thumbnails/025/751/345/small_2x/business-growth-wallpaper-with-the-glowing-bar-chart-static-and-up-arrow-stock-market-growth-in-futuristic-technology-style-graphic-of-successful-financial-development-on-the-dark-background-vector.jpg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75" y="363185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www.vecteezy.com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77456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6875" y="4170908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DM Sans"/>
              </a:rPr>
              <a:t>https://img.magnific.com/free-photo/abstract-network-interconnected-nodes-lines-black-background_23-2151977502.jpg?semt=ais_test_b&amp;w=740&amp;q=80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441662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www.magnific.com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38BDF8"/>
                </a:solidFill>
                <a:latin typeface="DM Sans"/>
              </a:rPr>
              <a:t>Image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ttom Notes Removal Mask 20"/>
          <p:cNvSpPr/>
          <p:nvPr/>
        </p:nvSpPr>
        <p:spPr>
          <a:xfrm>
            <a:off x="0" y="6250000"/>
            <a:ext cx="12192000" cy="60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